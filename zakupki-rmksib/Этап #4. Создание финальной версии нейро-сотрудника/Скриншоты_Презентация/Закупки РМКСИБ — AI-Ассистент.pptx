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7" r:id="rId7"/>
    <p:sldId id="276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32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8421" y="3632240"/>
            <a:ext cx="1950958" cy="251460"/>
          </a:xfrm>
          <a:prstGeom prst="roundRect">
            <a:avLst>
              <a:gd name="adj" fmla="val 727273"/>
            </a:avLst>
          </a:prstGeom>
          <a:solidFill>
            <a:srgbClr val="10B981"/>
          </a:solidFill>
          <a:ln/>
        </p:spPr>
        <p:txBody>
          <a:bodyPr wrap="square" lIns="114300" tIns="114300" rIns="114300" bIns="114300" rtlCol="0" anchor="t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MVP готов к продакшену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57282" y="799505"/>
            <a:ext cx="4629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Закупки РМКСИБ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323713" y="1591985"/>
            <a:ext cx="449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4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AI-ассистент для автоматизации закупок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93320" y="2262545"/>
            <a:ext cx="2557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Telegram бот нового поколения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38150" y="4112300"/>
            <a:ext cx="2067701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21 ноября 2025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Проблематика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95400"/>
            <a:ext cx="392506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Вызовы текущего процесса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1699260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 заявок в день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200+ коммерческих предложений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~1000 товарных позиций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Ручной анализ каждого лота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295400"/>
            <a:ext cx="392506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Потери ресурсов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1699260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Много времени на обработку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Ошибки от утомления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Отсутствие синхронизации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Сложность с масштабированием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89760"/>
            <a:ext cx="2539960" cy="1287780"/>
          </a:xfrm>
          <a:prstGeom prst="roundRect">
            <a:avLst>
              <a:gd name="adj" fmla="val 28402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889760"/>
            <a:ext cx="2539960" cy="1287780"/>
          </a:xfrm>
          <a:prstGeom prst="roundRect">
            <a:avLst>
              <a:gd name="adj" fmla="val 28402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21" y="1889760"/>
            <a:ext cx="2540080" cy="1287780"/>
          </a:xfrm>
          <a:prstGeom prst="roundRect">
            <a:avLst>
              <a:gd name="adj" fmla="val 28402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Решение: Система автоматизации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76300" y="2118360"/>
            <a:ext cx="2044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AI-анализ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76300" y="2461260"/>
            <a:ext cx="20446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Автоматический анализ привлекательности лотов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8661" y="2118360"/>
            <a:ext cx="2044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Поиск поставщиков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568661" y="2461260"/>
            <a:ext cx="208555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Умный поиск через AI и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1021" y="2118360"/>
            <a:ext cx="2044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Анализ КП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261021" y="2461260"/>
            <a:ext cx="204477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6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Извлечение и сравнение данных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634740"/>
            <a:ext cx="8083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↓ 70-80%</a:t>
            </a:r>
            <a:r>
              <a:rPr lang="en-US" sz="150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времени на анализ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Архитектура системы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83261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Frontend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2061210"/>
            <a:ext cx="381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Telegram Bot (aiogram 3.10.0)</a:t>
            </a:r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</a:rPr>
              <a:t>• FSM </a:t>
            </a:r>
            <a:r>
              <a:rPr lang="en-US" sz="1350" dirty="0" err="1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</a:rPr>
              <a:t>для</a:t>
            </a: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</a:rPr>
              <a:t> </a:t>
            </a:r>
            <a:r>
              <a:rPr lang="en-US" sz="1350" dirty="0" err="1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</a:rPr>
              <a:t>управления</a:t>
            </a: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</a:rPr>
              <a:t> </a:t>
            </a:r>
            <a:r>
              <a:rPr lang="en-US" sz="1350" dirty="0" err="1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</a:rPr>
              <a:t>состояниями</a:t>
            </a:r>
            <a:endParaRPr lang="en-US" sz="1350" dirty="0">
              <a:solidFill>
                <a:srgbClr val="6B7280"/>
              </a:solidFill>
              <a:latin typeface="-apple-system" pitchFamily="34" charset="0"/>
              <a:ea typeface="-apple-system" pitchFamily="34" charset="-122"/>
            </a:endParaRPr>
          </a:p>
          <a:p>
            <a:pPr>
              <a:lnSpc>
                <a:spcPts val="2880"/>
              </a:lnSpc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</a:rPr>
              <a:t>• Django</a:t>
            </a:r>
          </a:p>
          <a:p>
            <a:pPr marL="0" indent="0">
              <a:lnSpc>
                <a:spcPts val="2880"/>
              </a:lnSpc>
              <a:buNone/>
            </a:pP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24400" y="183261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Backend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724400" y="221361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Python 3.11+ (async)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Service layer + Repository pattern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2956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09600" y="344805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PostgreSQL (основная БД)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Redis (кэш, FSM состояния)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4400" y="30670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&amp; Интеграции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724400" y="344805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Perplexity API (LLM)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Sniper Search, SMTP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73211"/>
            <a:ext cx="1009174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 3.11+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94974" y="1873211"/>
            <a:ext cx="1009174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aiogram 3.10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80348" y="1873211"/>
            <a:ext cx="871195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727744" y="1873211"/>
            <a:ext cx="636850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40793" y="1873211"/>
            <a:ext cx="1000720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SQLAlchemy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17713" y="1873211"/>
            <a:ext cx="736283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Alembic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952631"/>
            <a:ext cx="1075373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Perplexity API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61173" y="2952631"/>
            <a:ext cx="1059537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Sniper Search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96910" y="2952631"/>
            <a:ext cx="956905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pdfplumber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0015" y="2952631"/>
            <a:ext cx="1011793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python-docx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18008" y="2952631"/>
            <a:ext cx="1001673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APScheduler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4032052"/>
            <a:ext cx="672822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58622" y="4032052"/>
            <a:ext cx="1260991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95813" y="4032052"/>
            <a:ext cx="519726" cy="304800"/>
          </a:xfrm>
          <a:prstGeom prst="roundRect">
            <a:avLst>
              <a:gd name="adj" fmla="val 120000"/>
            </a:avLst>
          </a:prstGeom>
          <a:solidFill>
            <a:srgbClr val="F9FAFB"/>
          </a:solidFill>
          <a:ln w="7620">
            <a:solidFill>
              <a:srgbClr val="2563EB"/>
            </a:solidFill>
          </a:ln>
        </p:spPr>
        <p:txBody>
          <a:bodyPr wrap="square" lIns="121920" tIns="121920" rIns="121920" bIns="12192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Технологический стек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09600" y="1492211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Основные технологии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09600" y="2571631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&amp; Интеграции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09600" y="3651052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Инфраструктура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31263ED-36DB-E5D1-5484-11C8C86BB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138" y="867562"/>
            <a:ext cx="4436659" cy="4275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3CD52C-199F-8677-95BC-62EDE61ED4B4}"/>
              </a:ext>
            </a:extLst>
          </p:cNvPr>
          <p:cNvSpPr txBox="1"/>
          <p:nvPr/>
        </p:nvSpPr>
        <p:spPr>
          <a:xfrm>
            <a:off x="387560" y="181669"/>
            <a:ext cx="84052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700" b="1" dirty="0">
                <a:solidFill>
                  <a:srgbClr val="2563EB"/>
                </a:solidFill>
                <a:ea typeface="-apple-system" pitchFamily="34" charset="-122"/>
              </a:rPr>
              <a:t>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1662135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B8AF2B-6AB7-7B3E-C337-2B9D568B9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73" y="1189864"/>
            <a:ext cx="7975264" cy="26746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FCC8DA-FF68-31A5-B477-F8645DE969B1}"/>
              </a:ext>
            </a:extLst>
          </p:cNvPr>
          <p:cNvSpPr txBox="1"/>
          <p:nvPr/>
        </p:nvSpPr>
        <p:spPr>
          <a:xfrm>
            <a:off x="387560" y="181669"/>
            <a:ext cx="84052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700" b="1" dirty="0">
                <a:solidFill>
                  <a:srgbClr val="2563EB"/>
                </a:solidFill>
                <a:ea typeface="-apple-system" pitchFamily="34" charset="-122"/>
              </a:rPr>
              <a:t>Админ-панель на </a:t>
            </a:r>
            <a:r>
              <a:rPr lang="en-US" sz="2700" b="1" dirty="0">
                <a:solidFill>
                  <a:srgbClr val="2563EB"/>
                </a:solidFill>
                <a:ea typeface="-apple-system" pitchFamily="34" charset="-122"/>
              </a:rPr>
              <a:t>Django</a:t>
            </a:r>
            <a:endParaRPr lang="ru-RU" sz="2700" b="1" dirty="0">
              <a:solidFill>
                <a:srgbClr val="2563EB"/>
              </a:solidFill>
              <a:ea typeface="-apple-system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5196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80461"/>
            <a:ext cx="7924800" cy="853440"/>
          </a:xfrm>
          <a:prstGeom prst="roundRect">
            <a:avLst>
              <a:gd name="adj" fmla="val 4285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Структура базы данных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95400"/>
            <a:ext cx="7924800" cy="215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users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пользователи (user, manager, admin)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user_preferences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настройки уведомлений и фильтров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lots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закупки с номер, название, бюджет, статус просмотра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suppliers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база поставщиков с рейтингом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commercial_proposals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КП с автоматическим анализом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3832861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JSON поля для гибкого хранения • </a:t>
            </a: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Оптимизированные индексы • </a:t>
            </a: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Автоматическая очистка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Управление лотами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9540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Парсинг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676400"/>
            <a:ext cx="3848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Автопарсинг ПАВЛИК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Каждые 30 минут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Скачивание документации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29540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Фильтрация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686300" y="1676400"/>
            <a:ext cx="3848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 заказчикам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 номенклатуре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 бюджету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070861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Статусы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09600" y="3451861"/>
            <a:ext cx="3848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not_viewed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in_work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rejected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86300" y="3070861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Автоочистка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686300" y="3451861"/>
            <a:ext cx="3848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Ежедневно в 3:00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Удаление просроченных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Фильтрация при отображении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109"/>
            <a:ext cx="7924800" cy="2392680"/>
          </a:xfrm>
          <a:prstGeom prst="roundRect">
            <a:avLst>
              <a:gd name="adj" fmla="val 1528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AI-анализ закупок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870709"/>
            <a:ext cx="742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Модель: Perplexity llama-3.1-sonar-large-128k-online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876300" y="2251709"/>
            <a:ext cx="74295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Анализ лотов с учетом бюджета и накладных расходов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Оценка привлекательности и рисков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Рекомендации по участию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Результаты в Telegram и email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17502"/>
            <a:ext cx="2539960" cy="963097"/>
          </a:xfrm>
          <a:prstGeom prst="roundRect">
            <a:avLst>
              <a:gd name="adj" fmla="val 3797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917502"/>
            <a:ext cx="2539960" cy="963097"/>
          </a:xfrm>
          <a:prstGeom prst="roundRect">
            <a:avLst>
              <a:gd name="adj" fmla="val 3797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21" y="1917502"/>
            <a:ext cx="2540080" cy="963097"/>
          </a:xfrm>
          <a:prstGeom prst="roundRect">
            <a:avLst>
              <a:gd name="adj" fmla="val 37977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Поиск поставщиков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536502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Методы поиска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76300" y="2146102"/>
            <a:ext cx="2085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Perplexity AI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6300" y="2420424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Интеллектуальный поиск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568661" y="2146102"/>
            <a:ext cx="2085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Sniper Search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8661" y="2420424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Специализированный API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261021" y="2146102"/>
            <a:ext cx="20856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Загрузка документов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1021" y="2420424"/>
            <a:ext cx="208567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Excel/PDF/DOCX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09600" y="336292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Результат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09600" y="374392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Автоматический поиск email на сайтах • Группировка по адресам • Формирование RFQ • Групповая отправка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Анализ коммерческих предложений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95400"/>
            <a:ext cx="79248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Форматы: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PDF, DOCX, DOC, TXT, RTF, XLSX, XLS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Извлечение: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Поставщик, сумма, количество, условия поставки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Улучшения: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Распознавание прописью, фильтрация банков, поиск "Исполнитель"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AI-анализ: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Рейтинг надежности поставщика через Perplexity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Отчет:</a:t>
            </a: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Сравнение всех КП с визуализацией рейтингов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Система уведомлений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946909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Email-уведомления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2327909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При появлении новых лотов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Для admin и manager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Персонализация по фильтрам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Fallback на дефолтные email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946909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Логика фильтрации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686300" y="2327909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Проверка роли пользователя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Наличие email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Включенные уведомления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Соответствие фильтрам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63091"/>
            <a:ext cx="3810000" cy="1165860"/>
          </a:xfrm>
          <a:prstGeom prst="roundRect">
            <a:avLst>
              <a:gd name="adj" fmla="val 31373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81350"/>
            <a:ext cx="3810000" cy="1165860"/>
          </a:xfrm>
          <a:prstGeom prst="roundRect">
            <a:avLst>
              <a:gd name="adj" fmla="val 31373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1863091"/>
            <a:ext cx="3810000" cy="1165860"/>
          </a:xfrm>
          <a:prstGeom prst="roundRect">
            <a:avLst>
              <a:gd name="adj" fmla="val 31373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24400" y="3181350"/>
            <a:ext cx="3810000" cy="1165860"/>
          </a:xfrm>
          <a:prstGeom prst="roundRect">
            <a:avLst>
              <a:gd name="adj" fmla="val 31373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Статистика и аналитика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482091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Лоты и КП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04672" y="2091691"/>
            <a:ext cx="3419856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08359" y="2602232"/>
            <a:ext cx="81236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заявок/день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04672" y="3409950"/>
            <a:ext cx="3419856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50670" y="3920491"/>
            <a:ext cx="1927741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коммерческих предложений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4724400" y="1482091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Показатели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919472" y="2091691"/>
            <a:ext cx="3419856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~1K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07180" y="2602232"/>
            <a:ext cx="124432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товарных позиций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4919472" y="3409950"/>
            <a:ext cx="3419856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70-80%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907763" y="3920491"/>
            <a:ext cx="144315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сокращение времени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Безопасность и конфигурация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9540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🔒 Безопасность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676400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Шифрование паролей (AES-256)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Переменные окружения (.env)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AuthMiddleware для авторизации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Роли: user, manager, admin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29540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 Конфигурация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686300" y="1676400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Динамические переменные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Файлы заказчиков и номенклатуры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Пороги бюджета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Настройки AI и модели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Развертывание и инфраструктура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708784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 Compose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2089784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 сервисы контейнеризованы • Автоматический запуск с применением миграций • Изолированная среда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465198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Минимальная конфигурация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09600" y="3846198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CPU: 2 ядра • RAM: 2 ГБ • Диск: 20 ГБ SSD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86300" y="3465198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Рекомендуемая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686300" y="3846198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CPU: 4 ядра • RAM: 4-8 ГБ • Диск: 100 ГБ SSD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Результаты и достижения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558291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Метрики проекта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939291"/>
            <a:ext cx="38100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30+ файлов Python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10+ модулей обработчиков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моделей БД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сервисов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15+ команд бота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25+ GUI-кнопок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24400" y="1558291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Реализовано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724400" y="1939291"/>
            <a:ext cx="38100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Полная автоматизация анализа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AI-интеграция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Поиск поставщиков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Анализ КП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Уведомления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Статистика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16632"/>
            <a:ext cx="7924800" cy="579120"/>
          </a:xfrm>
          <a:prstGeom prst="roundRect">
            <a:avLst>
              <a:gd name="adj" fmla="val 63158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Будущее развитие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733550"/>
            <a:ext cx="38481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Ручной ввод данных о поставщиках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Редактирование загруженных КП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Экспорт отчетов (Excel/PDF)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Привязка КП к лотам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733550"/>
            <a:ext cx="38481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Интеграция с другими API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Расширенная аналитика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Уведомления в Telegram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Интеграция с CRM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669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Roadmap: Q1 2026 →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7237"/>
            <a:ext cx="253996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677237"/>
            <a:ext cx="253996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21" y="1677237"/>
            <a:ext cx="254008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990850"/>
            <a:ext cx="253996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961" y="2990850"/>
            <a:ext cx="253996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4321" y="2990850"/>
            <a:ext cx="2540080" cy="1008817"/>
          </a:xfrm>
          <a:prstGeom prst="roundRect">
            <a:avLst>
              <a:gd name="adj" fmla="val 36256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Ключевые преимущества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76300" y="1905837"/>
            <a:ext cx="2044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⚡ Быстрота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6300" y="2225873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Анализ за 10-30 сек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568661" y="1905837"/>
            <a:ext cx="2044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🤖 Интеллект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8661" y="2225873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AI-анализ каждого лота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261021" y="1905837"/>
            <a:ext cx="204477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📈 Масштабируемость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1021" y="2225873"/>
            <a:ext cx="208567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Готово к нагрузкам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876300" y="3219450"/>
            <a:ext cx="2044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🔐 Безопасность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6300" y="3539496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Шифрование и роли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3568661" y="3219450"/>
            <a:ext cx="2044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 Точность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8661" y="3539496"/>
            <a:ext cx="208555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70-80% сокращение ошибок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6261021" y="3219450"/>
            <a:ext cx="204477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📱 Удобство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1021" y="3539496"/>
            <a:ext cx="208567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Telegram в кармане</a:t>
            </a:r>
            <a:endParaRPr lang="en-US" sz="11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Техническое совершенство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946914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Архитектура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2327914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Repository pattern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 layer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Async/await везде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FSM для диалогов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946914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Качество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686300" y="2327914"/>
            <a:ext cx="38481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Обработка ошибок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Централизованное логирование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Оптимизация запросов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Индексы БД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1423" y="941068"/>
            <a:ext cx="3521155" cy="1036320"/>
          </a:xfrm>
          <a:prstGeom prst="roundRect">
            <a:avLst>
              <a:gd name="adj" fmla="val 35294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11423" y="2358396"/>
            <a:ext cx="3521155" cy="1036320"/>
          </a:xfrm>
          <a:prstGeom prst="roundRect">
            <a:avLst>
              <a:gd name="adj" fmla="val 35294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11423" y="3775714"/>
            <a:ext cx="3521155" cy="1036320"/>
          </a:xfrm>
          <a:prstGeom prst="roundRect">
            <a:avLst>
              <a:gd name="adj" fmla="val 35294"/>
            </a:avLst>
          </a:prstGeom>
          <a:solidFill>
            <a:srgbClr val="F9FA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9732" y="179068"/>
            <a:ext cx="1424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Выводы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078123" y="1169668"/>
            <a:ext cx="302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Инновационное решение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3078123" y="1474468"/>
            <a:ext cx="3086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Полная автоматизация с AI-анализом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78123" y="2586996"/>
            <a:ext cx="302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Готово к продакшену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078123" y="2891796"/>
            <a:ext cx="3086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MVP протестирован и развертывается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78123" y="4004314"/>
            <a:ext cx="302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Масштабируемо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078123" y="4309114"/>
            <a:ext cx="3086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Архитектура готова к росту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48438"/>
            <a:ext cx="7924800" cy="467797"/>
          </a:xfrm>
          <a:prstGeom prst="rect">
            <a:avLst/>
          </a:prstGeom>
          <a:noFill/>
          <a:ln w="7620">
            <a:solidFill>
              <a:srgbClr val="F9FAF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Проект и ресурсы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712956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📋 Проект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609600" y="2093956"/>
            <a:ext cx="3848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Название:</a:t>
            </a: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Закупки РМКСИБ — AI-ассистент закупок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18792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Статус:</a:t>
            </a: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MVP готов к продакшену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06931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Дата:</a:t>
            </a: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21 ноября 2025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6300" y="1712956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🛠️ Стек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686300" y="2093956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 3.11+, aiogram 3.10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86300" y="2444474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PostgreSQL, Redis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86300" y="2794992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 Compose, Perplexity 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0352" y="3884656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2"/>
              </a:lnSpc>
              <a:buNone/>
            </a:pPr>
            <a:r>
              <a:rPr lang="en-US" sz="114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Техническое задание для развития MVP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753</Words>
  <Application>Microsoft Office PowerPoint</Application>
  <PresentationFormat>Экран (16:9)</PresentationFormat>
  <Paragraphs>230</Paragraphs>
  <Slides>22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-apple-system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Сергей Недякин</cp:lastModifiedBy>
  <cp:revision>4</cp:revision>
  <dcterms:created xsi:type="dcterms:W3CDTF">2025-11-23T04:12:53Z</dcterms:created>
  <dcterms:modified xsi:type="dcterms:W3CDTF">2025-12-01T12:10:18Z</dcterms:modified>
</cp:coreProperties>
</file>