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03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57282" y="681276"/>
            <a:ext cx="46294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Закупки РМКСИБ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257282" y="1511856"/>
            <a:ext cx="4629436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08"/>
              </a:lnSpc>
              <a:buNone/>
            </a:pPr>
            <a:r>
              <a:rPr lang="en-US" sz="2160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 AI-ассистент для автоматизации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2257282" y="2331720"/>
            <a:ext cx="4629436" cy="31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28"/>
              </a:lnSpc>
              <a:buNone/>
            </a:pPr>
            <a:r>
              <a:rPr lang="en-US" sz="156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Нейро-сотрудник на основе Perplexity LLM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2302669" y="322016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ФИО участника: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02669" y="3502105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ФИО руководителя: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02669" y="378404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Дата защиты:</a:t>
            </a: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[Заполнить вручную]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02669" y="4180284"/>
            <a:ext cx="45386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Университет искусственного интеллекта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Текущая проблема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30352" y="4918710"/>
            <a:ext cx="8083296" cy="31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28"/>
              </a:lnSpc>
              <a:buNone/>
            </a:pPr>
            <a:r>
              <a:rPr lang="en-US" sz="1560" dirty="0">
                <a:solidFill>
                  <a:srgbClr val="F59E0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РЕШЕНИЕ: 70-80% сокращение времени обработки</a:t>
            </a:r>
            <a:endParaRPr lang="en-US" sz="1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95425"/>
            <a:ext cx="3890962" cy="1320403"/>
          </a:xfrm>
          <a:prstGeom prst="roundRect">
            <a:avLst>
              <a:gd name="adj" fmla="val 2770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3438" y="1495425"/>
            <a:ext cx="3890962" cy="1320403"/>
          </a:xfrm>
          <a:prstGeom prst="roundRect">
            <a:avLst>
              <a:gd name="adj" fmla="val 2770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101578"/>
            <a:ext cx="7924800" cy="2021205"/>
          </a:xfrm>
          <a:prstGeom prst="roundRect">
            <a:avLst>
              <a:gd name="adj" fmla="val 1809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📚 Обучающая база (Dataset)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1685925"/>
            <a:ext cx="3487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Объем данных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822960" y="2009775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22960" y="2317552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товарных позиций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4856798" y="1685925"/>
            <a:ext cx="3487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🌐 Источник данных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4856798" y="2009775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Платформа ПАВЛИК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856798" y="2317552"/>
            <a:ext cx="355684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автопарсинг каждые 30 минут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838200" y="3292078"/>
            <a:ext cx="7655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🛠️ Инструменты сбора: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23950" y="3680699"/>
            <a:ext cx="721995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Специализированный парсер (Selenium + BeautifulSoup)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Обработка документов (pdfplumber, python-docx)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интеграция для прямой выгрузки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09600" y="5456159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Преодолены трудности: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5350" y="5844778"/>
            <a:ext cx="7639050" cy="152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Валидация коммерческих предложений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Распознавание сумм прописью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Фильтрация банков из КП</a:t>
            </a:r>
            <a:endParaRPr lang="en-US" sz="1350" dirty="0"/>
          </a:p>
          <a:p>
            <a:pPr marL="342900" indent="-342900">
              <a:lnSpc>
                <a:spcPts val="162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Поддержка форматов: PDF, DOCX, XLS, TXT, RTF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406266"/>
            <a:ext cx="7924800" cy="1543050"/>
          </a:xfrm>
          <a:prstGeom prst="roundRect">
            <a:avLst>
              <a:gd name="adj" fmla="val 2370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🧪 Гипотезы и экспериментация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13525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Проведено 10 экспериментов с разными моделями AI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90575" y="4549141"/>
            <a:ext cx="77529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Ключевой результат: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0575" y="4937761"/>
            <a:ext cx="7752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Интегральная оценка риска: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(LOW RISK)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0575" y="5417820"/>
            <a:ext cx="77529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Успешность всех экспериментов: </a:t>
            </a: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✅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95425"/>
            <a:ext cx="7924800" cy="2857500"/>
          </a:xfrm>
          <a:prstGeom prst="roundRect">
            <a:avLst>
              <a:gd name="adj" fmla="val 12800"/>
            </a:avLst>
          </a:prstGeom>
          <a:solidFill>
            <a:srgbClr val="0206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🏗️ Архитектура системы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00100" y="2002155"/>
            <a:ext cx="754380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 TB subgraph "Telegram API" TG[Telegram Bot API] end subgraph "Bot Application" MAIN[Bot Main Entry] DP[Dispatcher + FSM] AUTH[AuthMiddleware] LOG[LoggingMiddleware] HANDLERS[10+ Handlers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start, lots, search, settings, admin] KEYBOARDS[Keyboards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reply + inline] end subgraph "Services Layer" AI[Perplexity AI Service] DOC[Documentation Service] SEARCH[Supplier Search Service] EMAIL[Email Service] end subgraph "Database Layer" DB[(PostgreSQL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Models)] REPOS[4 Repositories] end subgraph "External APIs" PERP[Perplexity API] SNIPER[Sniper Search] SMTP[SMTP Server] end subgraph "Infrastructure" SCHED[APScheduler</a:t>
            </a:r>
            <a:endParaRPr lang="en-US" sz="1020" dirty="0"/>
          </a:p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Parsing + Cleanup] CACHE[(Redis Cache)] end TG --&gt; MAIN MAIN --&gt; DP DP --&gt; AUTH AUTH --&gt; LOG LOG --&gt; HANDLERS HANDLERS --&gt; KEYBOARDS HANDLERS --&gt; AI HANDLERS --&gt; DOC HANDLERS --&gt; SEARCH HANDLERS --&gt; EMAIL HANDLERS --&gt; REPOS AI --&gt; PERP SEARCH --&gt; SNIPER EMAIL --&gt; SMTP REPOS --&gt; DB DP --&gt; CACHE MAIN --&gt; SCHED style MAIN fill:#e1f5ff style DB fill:#ffe1f5 style PERP fill:#e1ffe1 style SNIPER fill:#e1ffe1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609600" y="4638675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Модульная архитектура с Service Layer, Repository Pattern, FSM для управления состояниями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543050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600" y="2429947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9600" y="3316844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600" y="420374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509063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 Pipeline обработки закупок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81100" y="1657350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🌐 Парсинг (ПАВЛИК)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1100" y="1969770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~1000 лотов каждые 30 минут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1181100" y="2544247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Фильтрация по настройкам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81100" y="2856667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 заказчикам, номенклатуре, бюджету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181100" y="3431144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🧠 AI-анализ (Perplexity)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81100" y="3743565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10-15 сек на лот, интегральная оценка риска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1181100" y="4318041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📧 Email + Telegram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81100" y="4630459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Немедленные уведомления пользователю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1181100" y="5204936"/>
            <a:ext cx="7500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💾 Сохранение в БД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81100" y="5517356"/>
            <a:ext cx="750036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История и аналитика для отчетов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20491"/>
            <a:ext cx="7924800" cy="1251823"/>
          </a:xfrm>
          <a:prstGeom prst="roundRect">
            <a:avLst>
              <a:gd name="adj" fmla="val 2921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Жизненный цикл и FSM состояния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1352550"/>
            <a:ext cx="38195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Главное меню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5350" y="1701166"/>
            <a:ext cx="35337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Мои лоты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Поиск поставщиков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Настройки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Статистика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👑 Админ-панель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14875" y="1352550"/>
            <a:ext cx="381952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 FSM состояния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00625" y="1701166"/>
            <a:ext cx="35337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Idle → StartMenu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ShowLots → LotDetail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LotAnalysis → Results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SearchFlow → Processing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 → Save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2475" y="4063366"/>
            <a:ext cx="7791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✨ Особенности: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2475" y="4451986"/>
            <a:ext cx="763905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Использование FSM (Finite State Machine) для надежного управления диалогами. Каждый процесс имеет четко определенные состояния и переходы между ними.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52550"/>
            <a:ext cx="3843338" cy="2030730"/>
          </a:xfrm>
          <a:prstGeom prst="roundRect">
            <a:avLst>
              <a:gd name="adj" fmla="val 1801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91063" y="1352550"/>
            <a:ext cx="3843338" cy="2030730"/>
          </a:xfrm>
          <a:prstGeom prst="roundRect">
            <a:avLst>
              <a:gd name="adj" fmla="val 1801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621407"/>
            <a:ext cx="7924800" cy="1111687"/>
          </a:xfrm>
          <a:prstGeom prst="roundRect">
            <a:avLst>
              <a:gd name="adj" fmla="val 32901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Параметры оптимизации AI-модели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1543050"/>
            <a:ext cx="3439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Оптимальные параметры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822960" y="1866900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llama-3.1-sonar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22960" y="2174677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14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0.2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822960" y="2482453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tokens: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1500-2000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822960" y="2790230"/>
            <a:ext cx="3508267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Online search: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✓ Включен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904423" y="1543050"/>
            <a:ext cx="3439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качества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4904423" y="1866900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F1-score: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0.87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4904423" y="2308859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Precision: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0.89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4904423" y="2750823"/>
            <a:ext cx="3439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Recall:</a:t>
            </a: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0.85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790575" y="3764282"/>
            <a:ext cx="77529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🏆 Интегральная оценка риска: </a:t>
            </a: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518059" y="3794759"/>
            <a:ext cx="7031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4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3.4/10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90575" y="424434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 RISK ✅ — система готова к использованию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609600" y="4923592"/>
            <a:ext cx="8083296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 0.2 выбрана как оптимальный баланс между детерминированностью и творчеством анализа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701166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587349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473532"/>
            <a:ext cx="3843338" cy="790932"/>
          </a:xfrm>
          <a:prstGeom prst="roundRect">
            <a:avLst>
              <a:gd name="adj" fmla="val 46244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1063" y="1701166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84169" y="1701166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1063" y="2815591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4169" y="2815591"/>
            <a:ext cx="1850231" cy="971550"/>
          </a:xfrm>
          <a:prstGeom prst="roundRect">
            <a:avLst>
              <a:gd name="adj" fmla="val 37647"/>
            </a:avLst>
          </a:prstGeom>
          <a:solidFill>
            <a:srgbClr val="1E293B"/>
          </a:solidFill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Результаты экспериментов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09600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⏱️ Время выполнения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2475" y="1844041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Базовый анализ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52475" y="2158724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10.58 сек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752475" y="2730224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Расширенный анализ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52475" y="3044907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15.55 сек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52475" y="3616407"/>
            <a:ext cx="3628739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Sonar-pro (сложные)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752475" y="3931086"/>
            <a:ext cx="3557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24.28 сек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691063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Статистика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18293" y="1866900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818293" y="2346959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экспериментов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811399" y="1866900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811399" y="2346959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успешность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818293" y="2981325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14.2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818293" y="3461384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сек (среднее)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811399" y="2981325"/>
            <a:ext cx="159577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811399" y="3461384"/>
            <a:ext cx="1595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риск (из 10)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530352" y="4550211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эксперименты успешно завершены с полной документацией результатов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701166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907032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112898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5318759"/>
            <a:ext cx="3867150" cy="1110615"/>
          </a:xfrm>
          <a:prstGeom prst="roundRect">
            <a:avLst>
              <a:gd name="adj" fmla="val 3293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6762750"/>
            <a:ext cx="7924800" cy="1038463"/>
          </a:xfrm>
          <a:prstGeom prst="roundRect">
            <a:avLst>
              <a:gd name="adj" fmla="val 3522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🏆 Ключевые достижения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09600" y="1352550"/>
            <a:ext cx="3867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Метрики проекта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575" y="1891666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70-80%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575" y="2280284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сокращение времени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0575" y="3097532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15-20% → &lt;5%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90575" y="3486150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снижение ошибок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575" y="4303398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0575" y="4692016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заявок/день (автоматизированы)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0575" y="5509259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200+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90575" y="5897882"/>
            <a:ext cx="36141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КП/день (анализируются)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67250" y="1352550"/>
            <a:ext cx="3867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Реализовано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0" y="1701166"/>
            <a:ext cx="35814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файлов Python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моделей БД (PostgreSQL)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команд бота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25+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GUI-кнопок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успешных экспериментов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4565" y="6905625"/>
            <a:ext cx="7752969" cy="29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72"/>
              </a:lnSpc>
              <a:buNone/>
            </a:pPr>
            <a:r>
              <a:rPr lang="en-US" sz="144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MVP готов к продакшену!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714565" y="731246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функции протестированы и готовы к использованию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1063" y="1701166"/>
            <a:ext cx="3843338" cy="1213723"/>
          </a:xfrm>
          <a:prstGeom prst="roundRect">
            <a:avLst>
              <a:gd name="adj" fmla="val 3013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91063" y="3010137"/>
            <a:ext cx="3843338" cy="1213723"/>
          </a:xfrm>
          <a:prstGeom prst="roundRect">
            <a:avLst>
              <a:gd name="adj" fmla="val 3013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557238"/>
            <a:ext cx="7924800" cy="1014055"/>
          </a:xfrm>
          <a:prstGeom prst="roundRect">
            <a:avLst>
              <a:gd name="adj" fmla="val 36069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Roadmap и заключение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09600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 Планы развития (Q1 2026)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5350" y="1701166"/>
            <a:ext cx="3557588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Экспорт отчетов (Excel/PDF)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🔗 Привязка КП к лотам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🔔 Уведомления в Telegram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 CRM интеграция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 Расширенная аналитика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91063" y="1352550"/>
            <a:ext cx="3843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✨ Инновационность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72038" y="1844041"/>
            <a:ext cx="35898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Первая система в регионе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72038" y="2194559"/>
            <a:ext cx="3519488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Полная автоматизация закупок на базе AI + Telegram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872038" y="3153012"/>
            <a:ext cx="35898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 Масштабируемость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72038" y="3503535"/>
            <a:ext cx="3519488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Docker контейнеризация, готово к 100+ пользователям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714565" y="4700113"/>
            <a:ext cx="7752969" cy="26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16"/>
              </a:lnSpc>
              <a:buNone/>
            </a:pPr>
            <a:r>
              <a:rPr lang="en-US" sz="1320" b="1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💡 Проект успешно завершен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14565" y="5082541"/>
            <a:ext cx="775296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Готово к демонстрации и внедрению в production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Экран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-apple-system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Сергей Недякин</cp:lastModifiedBy>
  <cp:revision>1</cp:revision>
  <dcterms:created xsi:type="dcterms:W3CDTF">2025-12-01T11:20:03Z</dcterms:created>
  <dcterms:modified xsi:type="dcterms:W3CDTF">2025-12-01T11:36:35Z</dcterms:modified>
</cp:coreProperties>
</file>